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62" r:id="rId5"/>
    <p:sldId id="260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/>
    <p:restoredTop sz="94694"/>
  </p:normalViewPr>
  <p:slideViewPr>
    <p:cSldViewPr snapToGrid="0" snapToObjects="1">
      <p:cViewPr varScale="1">
        <p:scale>
          <a:sx n="62" d="100"/>
          <a:sy n="62" d="100"/>
        </p:scale>
        <p:origin x="11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0306E680-6A26-9C48-87BF-4368862B9A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5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955C273-3410-C447-B8B7-5FDFF0F32A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6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12F90-7608-D14B-BE6C-B6E7C3BF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B1F2DD4F-54D8-DF4E-89F0-75242AE735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7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4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9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707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48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2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542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12/10/2025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82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A6F54A4B-B617-B54F-B600-5EFC28C265A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056147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7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30DA4-D291-4B42-B1AF-848E941EB3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A.I’s Chance of taking your jobs.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97951D-6AED-F64B-AB8D-89218E91D0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Joshua Henderson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09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2E55-AF42-EEA6-FDD8-255DFC61C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50BC-F86B-288B-0628-A635672C5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3,000 total records</a:t>
            </a:r>
          </a:p>
          <a:p>
            <a:r>
              <a:rPr lang="en-US" dirty="0"/>
              <a:t>18 features (mix of numeric + categorical)</a:t>
            </a:r>
          </a:p>
          <a:p>
            <a:r>
              <a:rPr lang="en-US" dirty="0"/>
              <a:t>Target variable: </a:t>
            </a:r>
            <a:r>
              <a:rPr lang="en-US" dirty="0" err="1"/>
              <a:t>Risk_Category</a:t>
            </a:r>
            <a:r>
              <a:rPr lang="en-US" dirty="0"/>
              <a:t> (Low, Medium, High)</a:t>
            </a:r>
          </a:p>
          <a:p>
            <a:r>
              <a:rPr lang="en-US" dirty="0"/>
              <a:t>No missing values</a:t>
            </a:r>
          </a:p>
          <a:p>
            <a:r>
              <a:rPr lang="en-US" dirty="0"/>
              <a:t>Key numeric columns: </a:t>
            </a:r>
            <a:r>
              <a:rPr lang="en-US" dirty="0" err="1"/>
              <a:t>Average_Salary</a:t>
            </a:r>
            <a:r>
              <a:rPr lang="en-US" dirty="0"/>
              <a:t>, </a:t>
            </a:r>
            <a:r>
              <a:rPr lang="en-US" dirty="0" err="1"/>
              <a:t>Years_Experience</a:t>
            </a:r>
            <a:r>
              <a:rPr lang="en-US" dirty="0"/>
              <a:t>, </a:t>
            </a:r>
            <a:r>
              <a:rPr lang="en-US" dirty="0" err="1"/>
              <a:t>AI_Exposure_Index</a:t>
            </a:r>
            <a:r>
              <a:rPr lang="en-US" dirty="0"/>
              <a:t>, Automation_Probability_2030</a:t>
            </a:r>
          </a:p>
          <a:p>
            <a:r>
              <a:rPr lang="en-US" dirty="0"/>
              <a:t>Key categorical columns: </a:t>
            </a:r>
            <a:r>
              <a:rPr lang="en-US" dirty="0" err="1"/>
              <a:t>Job_Title</a:t>
            </a:r>
            <a:r>
              <a:rPr lang="en-US" dirty="0"/>
              <a:t>, </a:t>
            </a:r>
            <a:r>
              <a:rPr lang="en-US" dirty="0" err="1"/>
              <a:t>Education_Level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649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0367E-DF85-5B48-ABDA-7F8FDCCF8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241B7-01DA-6A42-8344-CD74340996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accurately can we predict a job's automation risk category using AI exposure and job-related features?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126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F2A44-4611-29AC-4B70-1152F2258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B56C4-7142-A17C-7568-0BA0508A7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head() and info()</a:t>
            </a:r>
          </a:p>
          <a:p>
            <a:r>
              <a:rPr lang="en-US" dirty="0"/>
              <a:t>Missing values check (all zeros)</a:t>
            </a:r>
          </a:p>
          <a:p>
            <a:r>
              <a:rPr lang="en-US" dirty="0"/>
              <a:t>Distribution plots for salary, experience, AI exposure</a:t>
            </a:r>
          </a:p>
          <a:p>
            <a:r>
              <a:rPr lang="en-US" dirty="0"/>
              <a:t>Correlation heatmap</a:t>
            </a:r>
          </a:p>
          <a:p>
            <a:r>
              <a:rPr lang="en-US" dirty="0"/>
              <a:t>Boxplots of key features vs. </a:t>
            </a:r>
            <a:r>
              <a:rPr lang="en-US" dirty="0" err="1"/>
              <a:t>Risk_Category</a:t>
            </a:r>
            <a:endParaRPr lang="en-US" dirty="0"/>
          </a:p>
          <a:p>
            <a:r>
              <a:rPr lang="en-US" dirty="0"/>
              <a:t>Scatterplots showing relationships between </a:t>
            </a:r>
            <a:r>
              <a:rPr lang="en-US" dirty="0" err="1"/>
              <a:t>AI_Exposure_Index</a:t>
            </a:r>
            <a:r>
              <a:rPr lang="en-US" dirty="0"/>
              <a:t> and Automation_Probability_2030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921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C2075-D9AA-405B-27E6-698E3F83A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0E308-F210-A2C1-8D8F-EBC7F2E43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 descr="A graph with blue bars&#10;&#10;AI-generated content may be incorrect.">
            <a:extLst>
              <a:ext uri="{FF2B5EF4-FFF2-40B4-BE49-F238E27FC236}">
                <a16:creationId xmlns:a16="http://schemas.microsoft.com/office/drawing/2014/main" id="{68277B2C-322F-BBED-E634-BF1897BF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19945" cy="6858000"/>
          </a:xfrm>
          <a:prstGeom prst="rect">
            <a:avLst/>
          </a:prstGeom>
        </p:spPr>
      </p:pic>
      <p:pic>
        <p:nvPicPr>
          <p:cNvPr id="7" name="Picture 6" descr="A list of blue squares&#10;&#10;AI-generated content may be incorrect.">
            <a:extLst>
              <a:ext uri="{FF2B5EF4-FFF2-40B4-BE49-F238E27FC236}">
                <a16:creationId xmlns:a16="http://schemas.microsoft.com/office/drawing/2014/main" id="{C19CF352-92A4-B66C-2CE7-10BEB0717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945" y="0"/>
            <a:ext cx="2686425" cy="4620270"/>
          </a:xfrm>
          <a:prstGeom prst="rect">
            <a:avLst/>
          </a:prstGeom>
        </p:spPr>
      </p:pic>
      <p:pic>
        <p:nvPicPr>
          <p:cNvPr id="9" name="Picture 8" descr="A graph with text and numbers&#10;&#10;AI-generated content may be incorrect.">
            <a:extLst>
              <a:ext uri="{FF2B5EF4-FFF2-40B4-BE49-F238E27FC236}">
                <a16:creationId xmlns:a16="http://schemas.microsoft.com/office/drawing/2014/main" id="{5E62039E-2118-BD8A-782A-A460C1A8C7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620" y="0"/>
            <a:ext cx="2789695" cy="6858000"/>
          </a:xfrm>
          <a:prstGeom prst="rect">
            <a:avLst/>
          </a:prstGeom>
        </p:spPr>
      </p:pic>
      <p:pic>
        <p:nvPicPr>
          <p:cNvPr id="11" name="Picture 10" descr="A graph with blue and white text&#10;&#10;AI-generated content may be incorrect.">
            <a:extLst>
              <a:ext uri="{FF2B5EF4-FFF2-40B4-BE49-F238E27FC236}">
                <a16:creationId xmlns:a16="http://schemas.microsoft.com/office/drawing/2014/main" id="{145DEDCA-256E-EA2E-E7BA-7051468CF9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524" y="0"/>
            <a:ext cx="2307981" cy="6858000"/>
          </a:xfrm>
          <a:prstGeom prst="rect">
            <a:avLst/>
          </a:prstGeom>
        </p:spPr>
      </p:pic>
      <p:pic>
        <p:nvPicPr>
          <p:cNvPr id="13" name="Picture 12" descr="A graph with a bar&#10;&#10;AI-generated content may be incorrect.">
            <a:extLst>
              <a:ext uri="{FF2B5EF4-FFF2-40B4-BE49-F238E27FC236}">
                <a16:creationId xmlns:a16="http://schemas.microsoft.com/office/drawing/2014/main" id="{A6C48A9F-382F-7E4E-950E-599FF92DE6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8505" y="0"/>
            <a:ext cx="25705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9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9100F-F209-CE9C-7DB2-8EFA5144E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Training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EF6FC-C366-3BAC-413E-53F5432DC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used: Logistic Regression (multiclass)</a:t>
            </a:r>
          </a:p>
          <a:p>
            <a:r>
              <a:rPr lang="en-US" dirty="0"/>
              <a:t>Train/test split: 75% train, 25% test</a:t>
            </a:r>
          </a:p>
          <a:p>
            <a:r>
              <a:rPr lang="en-US" dirty="0"/>
              <a:t>Categorical encoding: One-hot</a:t>
            </a:r>
          </a:p>
          <a:p>
            <a:r>
              <a:rPr lang="en-US" dirty="0"/>
              <a:t>Target encoded with </a:t>
            </a:r>
            <a:r>
              <a:rPr lang="en-US" dirty="0" err="1"/>
              <a:t>LabelEncoder</a:t>
            </a:r>
            <a:endParaRPr lang="en-US" dirty="0"/>
          </a:p>
          <a:p>
            <a:r>
              <a:rPr lang="en-US" dirty="0"/>
              <a:t>Numeric features scaled with </a:t>
            </a:r>
            <a:r>
              <a:rPr lang="en-US" dirty="0" err="1"/>
              <a:t>StandardScaler</a:t>
            </a:r>
            <a:endParaRPr lang="en-US" dirty="0"/>
          </a:p>
          <a:p>
            <a:r>
              <a:rPr lang="en-US" dirty="0"/>
              <a:t>Model trained using </a:t>
            </a:r>
            <a:r>
              <a:rPr lang="en-US" dirty="0" err="1"/>
              <a:t>max_iter</a:t>
            </a:r>
            <a:r>
              <a:rPr lang="en-US" dirty="0"/>
              <a:t>=1000</a:t>
            </a:r>
          </a:p>
          <a:p>
            <a:r>
              <a:rPr lang="en-US" dirty="0"/>
              <a:t>Evaluated using predictions on test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94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CF652-D8FD-34A5-01C2-7554BE080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</a:t>
            </a:r>
          </a:p>
        </p:txBody>
      </p:sp>
      <p:pic>
        <p:nvPicPr>
          <p:cNvPr id="4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3EEB9166-71A9-003E-A41D-0FEE6CC183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8962" y="1825625"/>
            <a:ext cx="527407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859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C2FF4-DE3C-08BA-CADC-E4ED558D8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CCC25-C0BE-3852-08CD-C88A56F26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AI_Exposure_Index</a:t>
            </a:r>
            <a:r>
              <a:rPr lang="en-US" dirty="0"/>
              <a:t> strongly correlates with automation probability</a:t>
            </a:r>
          </a:p>
          <a:p>
            <a:r>
              <a:rPr lang="en-US" dirty="0"/>
              <a:t>High-risk jobs cluster around high exposure + high automation probability</a:t>
            </a:r>
          </a:p>
          <a:p>
            <a:r>
              <a:rPr lang="en-US" dirty="0"/>
              <a:t>Salaries are not linear predictors of risk but show some patterning</a:t>
            </a:r>
          </a:p>
          <a:p>
            <a:r>
              <a:rPr lang="en-US" dirty="0"/>
              <a:t>Medium-risk category overlaps with both high and low groups</a:t>
            </a:r>
          </a:p>
          <a:p>
            <a:r>
              <a:rPr lang="en-US" dirty="0"/>
              <a:t>Logistic Regression performs reasonably well but could be improved with advanced models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504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7E72-C61C-BDFF-17E5-BC74998D2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8767F-8445-373D-5E26-53686C9FC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Logistic Regression successfully models automation risk from job features</a:t>
            </a:r>
          </a:p>
          <a:p>
            <a:r>
              <a:rPr lang="en-US" dirty="0"/>
              <a:t>AI exposure metrics are highly predictive of risk category</a:t>
            </a:r>
          </a:p>
          <a:p>
            <a:r>
              <a:rPr lang="en-US" dirty="0"/>
              <a:t>The dataset supports meaningful insights but is synthetic</a:t>
            </a:r>
          </a:p>
          <a:p>
            <a:r>
              <a:rPr lang="en-US" dirty="0"/>
              <a:t>Future work: Random Forest, </a:t>
            </a:r>
            <a:r>
              <a:rPr lang="en-US" dirty="0" err="1"/>
              <a:t>XGBoost</a:t>
            </a:r>
            <a:r>
              <a:rPr lang="en-US" dirty="0"/>
              <a:t>, SHAP values, hyperparameter tuning</a:t>
            </a:r>
          </a:p>
          <a:p>
            <a:r>
              <a:rPr lang="en-US"/>
              <a:t>Overall, the project demonstrates a complete end-to-end machine learning pipeline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6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Words>302</Words>
  <Application>Microsoft Office PowerPoint</Application>
  <PresentationFormat>Widescreen</PresentationFormat>
  <Paragraphs>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A.I’s Chance of taking your jobs. </vt:lpstr>
      <vt:lpstr>Dataset Summary</vt:lpstr>
      <vt:lpstr>Research Question</vt:lpstr>
      <vt:lpstr>Python Eda</vt:lpstr>
      <vt:lpstr>Tableau</vt:lpstr>
      <vt:lpstr>Model Training Summary</vt:lpstr>
      <vt:lpstr>Correlation</vt:lpstr>
      <vt:lpstr>Key Insights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Kelty</dc:creator>
  <cp:lastModifiedBy>Josh Henderson</cp:lastModifiedBy>
  <cp:revision>11</cp:revision>
  <dcterms:created xsi:type="dcterms:W3CDTF">2020-08-18T13:57:38Z</dcterms:created>
  <dcterms:modified xsi:type="dcterms:W3CDTF">2025-12-10T06:34:50Z</dcterms:modified>
</cp:coreProperties>
</file>